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9"/>
  </p:notesMasterIdLst>
  <p:sldIdLst>
    <p:sldId id="256" r:id="rId4"/>
    <p:sldId id="268" r:id="rId5"/>
    <p:sldId id="269" r:id="rId6"/>
    <p:sldId id="270" r:id="rId7"/>
    <p:sldId id="262" r:id="rId8"/>
    <p:sldId id="261" r:id="rId9"/>
    <p:sldId id="272" r:id="rId10"/>
    <p:sldId id="273" r:id="rId11"/>
    <p:sldId id="277" r:id="rId12"/>
    <p:sldId id="278" r:id="rId13"/>
    <p:sldId id="275" r:id="rId14"/>
    <p:sldId id="279" r:id="rId15"/>
    <p:sldId id="274" r:id="rId16"/>
    <p:sldId id="280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1F37C6-D36B-4485-AD76-26D7A969E562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844E2-EA35-4CD1-8D1B-FF01D9798823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A6C77-FB23-43B2-946F-62A7665DD4A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5D5F1-EDEB-45CF-B72F-F9411104C8E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5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8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tags" Target="../tags/tag9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83" y="215537"/>
            <a:ext cx="3506323" cy="1177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3150" y="1138555"/>
            <a:ext cx="9117330" cy="600075"/>
          </a:xfrm>
        </p:spPr>
        <p:txBody>
          <a:bodyPr>
            <a:normAutofit/>
          </a:bodyPr>
          <a:lstStyle/>
          <a:p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SEMESTER PROJECT REVIEW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r logo top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55" y="296545"/>
            <a:ext cx="1473200" cy="8724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76285" y="280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381500" y="2171065"/>
            <a:ext cx="4850130" cy="620395"/>
          </a:xfrm>
          <a:prstGeom prst="rect">
            <a:avLst/>
          </a:prstGeom>
        </p:spPr>
        <p:txBody>
          <a:bodyPr>
            <a:noAutofit/>
          </a:bodyPr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Traffic Control Management System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00405" y="3134360"/>
            <a:ext cx="6096000" cy="3067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10000"/>
              </a:lnSpc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NAME                             : SIBIRAJ S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SUBJECT CODE            : CGB1201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SUBJECT NAME           : JAVA PROGRAMMING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REGISTER NUMBER   : 927624BAD094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YEAR &amp; SEC                 : II &amp; B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            : B . Tech(AIDS)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DATE                              : 13-12-2025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D5D5F1-EDEB-45CF-B72F-F9411104C8E6}" type="slidenum">
              <a:rPr lang="en-IN" smtClean="0"/>
            </a:fld>
            <a:endParaRPr lang="en-I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en-US"/>
              <a:t>END SEMESTER PROJECT REVIEW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83" y="215537"/>
            <a:ext cx="3506323" cy="1177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7695" y="993775"/>
            <a:ext cx="9117330" cy="62611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r logo top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55" y="296545"/>
            <a:ext cx="1473200" cy="8724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76285" y="280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569460" y="3422650"/>
            <a:ext cx="3402965" cy="363220"/>
          </a:xfrm>
          <a:prstGeom prst="rect">
            <a:avLst/>
          </a:prstGeom>
        </p:spPr>
        <p:txBody>
          <a:bodyPr>
            <a:noAutofit/>
          </a:bodyPr>
          <a:p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93675" y="454342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IN"/>
              <a:t>2</a:t>
            </a:r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END SEMESTER PROJECT REVIEW</a:t>
            </a:r>
            <a:endParaRPr lang="en-IN"/>
          </a:p>
        </p:txBody>
      </p:sp>
      <p:graphicFrame>
        <p:nvGraphicFramePr>
          <p:cNvPr id="12" name="Table 11"/>
          <p:cNvGraphicFramePr/>
          <p:nvPr>
            <p:custDataLst>
              <p:tags r:id="rId3"/>
            </p:custDataLst>
          </p:nvPr>
        </p:nvGraphicFramePr>
        <p:xfrm>
          <a:off x="348615" y="1560195"/>
          <a:ext cx="773430" cy="2647315"/>
        </p:xfrm>
        <a:graphic>
          <a:graphicData uri="http://schemas.openxmlformats.org/drawingml/2006/table">
            <a:tbl>
              <a:tblPr/>
              <a:tblGrid>
                <a:gridCol w="88900"/>
                <a:gridCol w="593725"/>
                <a:gridCol w="90805"/>
              </a:tblGrid>
              <a:tr h="268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317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317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4163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US" sz="1800" b="0" spc="12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317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US" sz="1600" b="0" spc="12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317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US" sz="1600" b="0" spc="12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68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US" sz="1400" b="0" spc="12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317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" name="Google Shape;102;p2"/>
          <p:cNvGraphicFramePr/>
          <p:nvPr/>
        </p:nvGraphicFramePr>
        <p:xfrm>
          <a:off x="1696843" y="1873470"/>
          <a:ext cx="8128000" cy="4236325"/>
        </p:xfrm>
        <a:graphic>
          <a:graphicData uri="http://schemas.openxmlformats.org/drawingml/2006/table">
            <a:tbl>
              <a:tblPr firstRow="1" bandRow="1">
                <a:noFill/>
                <a:tableStyleId>{591F37C6-D36B-4485-AD76-26D7A969E562}</a:tableStyleId>
              </a:tblPr>
              <a:tblGrid>
                <a:gridCol w="1281475"/>
                <a:gridCol w="4503175"/>
                <a:gridCol w="2343350"/>
              </a:tblGrid>
              <a:tr h="457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</a:t>
                      </a:r>
                      <a:r>
                        <a:rPr lang="en-US" sz="14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S.NO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                   </a:t>
                      </a:r>
                      <a:r>
                        <a:rPr lang="en-US" sz="14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TITLE</a:t>
                      </a:r>
                      <a:endParaRPr sz="14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</a:t>
                      </a:r>
                      <a:r>
                        <a:rPr lang="en-US" sz="14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PAGE.NO</a:t>
                      </a:r>
                      <a:endParaRPr sz="14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  <a:tr h="373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1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                      ABSTRACT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3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2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                INTRODUCTION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4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  <a:tr h="405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3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PROBLEM STATEMENT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5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  <a:tr h="403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4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SYSTEM ARCHITECTURE 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6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5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SYSTEM ARCHITECTURE DESCRIPTION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7</a:t>
                      </a:r>
                      <a:endParaRPr lang="en-US"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6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               LIST OF MODULES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</a:t>
                      </a:r>
                      <a:r>
                        <a:rPr lang="en-IN" alt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</a:t>
                      </a:r>
                      <a:endParaRPr lang="en-IN" altLang="en-US"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7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LIST OF MODULES DESCRIPTION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</a:t>
                      </a:r>
                      <a:r>
                        <a:rPr lang="en-IN" alt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</a:t>
                      </a:r>
                      <a:endParaRPr lang="en-IN" altLang="en-US"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8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                     RESULT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</a:t>
                      </a:r>
                      <a:r>
                        <a:rPr lang="en-IN" alt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</a:t>
                      </a:r>
                      <a:r>
                        <a:rPr lang="en-US" altLang="en-IN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</a:t>
                      </a:r>
                      <a:endParaRPr lang="en-US" altLang="en-IN"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9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                  DISCUSSION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</a:t>
                      </a:r>
                      <a:r>
                        <a:rPr lang="en-IN" alt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</a:t>
                      </a:r>
                      <a:r>
                        <a:rPr lang="en-US" altLang="en-IN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</a:t>
                      </a:r>
                      <a:endParaRPr lang="en-US" altLang="en-IN"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10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                 CONCLUSION</a:t>
                      </a:r>
                      <a:endParaRPr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14</a:t>
                      </a:r>
                      <a:endParaRPr lang="en-IN" altLang="en-US"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83" y="215537"/>
            <a:ext cx="3506323" cy="1177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7845" y="1007110"/>
            <a:ext cx="9117330" cy="62611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ABSTRACT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r logo top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55" y="296545"/>
            <a:ext cx="1473200" cy="8724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76285" y="280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569460" y="3422650"/>
            <a:ext cx="3402965" cy="363220"/>
          </a:xfrm>
          <a:prstGeom prst="rect">
            <a:avLst/>
          </a:prstGeom>
        </p:spPr>
        <p:txBody>
          <a:bodyPr>
            <a:noAutofit/>
          </a:bodyPr>
          <a:p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93675" y="454342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IN"/>
              <a:t>3</a:t>
            </a:r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END SEMESTER PROJECT REVIEW</a:t>
            </a:r>
            <a:endParaRPr lang="en-IN"/>
          </a:p>
        </p:txBody>
      </p:sp>
      <p:graphicFrame>
        <p:nvGraphicFramePr>
          <p:cNvPr id="12" name="Table 11"/>
          <p:cNvGraphicFramePr/>
          <p:nvPr>
            <p:custDataLst>
              <p:tags r:id="rId3"/>
            </p:custDataLst>
          </p:nvPr>
        </p:nvGraphicFramePr>
        <p:xfrm>
          <a:off x="2771775" y="2350135"/>
          <a:ext cx="7261860" cy="3349625"/>
        </p:xfrm>
        <a:graphic>
          <a:graphicData uri="http://schemas.openxmlformats.org/drawingml/2006/table">
            <a:tbl>
              <a:tblPr/>
              <a:tblGrid>
                <a:gridCol w="831215"/>
                <a:gridCol w="5580380"/>
                <a:gridCol w="850265"/>
              </a:tblGrid>
              <a:tr h="942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433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1381760" y="2165350"/>
            <a:ext cx="10956290" cy="5472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Java desktop application made using AWT and Swing.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simulates traffic signals and shows how traffic moves at junctions.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controls signal timing to manage traffic flow smoothly.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gives congestion alerts when too many vehicles are on the road.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can also suggest better routes to avoid traffic.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simple dashboard is provided to view signals and reports.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show how technology can help reduce traffic congestion and improve traffic management.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018" y="255542"/>
            <a:ext cx="3506323" cy="1177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1825" y="953770"/>
            <a:ext cx="9117330" cy="62611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r logo top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55" y="296545"/>
            <a:ext cx="1473200" cy="8724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416290" y="2820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569460" y="3422650"/>
            <a:ext cx="3402965" cy="363220"/>
          </a:xfrm>
          <a:prstGeom prst="rect">
            <a:avLst/>
          </a:prstGeom>
        </p:spPr>
        <p:txBody>
          <a:bodyPr>
            <a:noAutofit/>
          </a:bodyPr>
          <a:p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93675" y="454342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IN"/>
              <a:t>4</a:t>
            </a:r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END SEMESTER PROJECT REVIEW</a:t>
            </a:r>
            <a:endParaRPr lang="en-IN"/>
          </a:p>
        </p:txBody>
      </p:sp>
      <p:graphicFrame>
        <p:nvGraphicFramePr>
          <p:cNvPr id="12" name="Table 11"/>
          <p:cNvGraphicFramePr/>
          <p:nvPr>
            <p:custDataLst>
              <p:tags r:id="rId3"/>
            </p:custDataLst>
          </p:nvPr>
        </p:nvGraphicFramePr>
        <p:xfrm>
          <a:off x="2771775" y="2350135"/>
          <a:ext cx="7261860" cy="3349625"/>
        </p:xfrm>
        <a:graphic>
          <a:graphicData uri="http://schemas.openxmlformats.org/drawingml/2006/table">
            <a:tbl>
              <a:tblPr/>
              <a:tblGrid>
                <a:gridCol w="831215"/>
                <a:gridCol w="5580380"/>
                <a:gridCol w="850265"/>
              </a:tblGrid>
              <a:tr h="942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433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1423670" y="2287905"/>
            <a:ext cx="9534525" cy="3565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Traffic congestion is a major problem in cities, causing time loss, extra fuel usage, and pollution.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To help solve this issue, the Traffic Control Management System simulates real-time traffic signal behavior using software.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gives an overview of road traffic conditions through digital control logic.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modules such as user login, traffic signal simulation, congestion detection, and report generation.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It also demonstrates how such systems can contribute to Smart City infrastructure and improve urban transportation.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83" y="215537"/>
            <a:ext cx="3506323" cy="1177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6560" y="1016000"/>
            <a:ext cx="9117330" cy="89662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r logo top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55" y="296545"/>
            <a:ext cx="1473200" cy="8724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76285" y="280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569460" y="3422650"/>
            <a:ext cx="3402965" cy="363220"/>
          </a:xfrm>
          <a:prstGeom prst="rect">
            <a:avLst/>
          </a:prstGeom>
        </p:spPr>
        <p:txBody>
          <a:bodyPr>
            <a:noAutofit/>
          </a:bodyPr>
          <a:p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93675" y="454342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D5D5F1-EDEB-45CF-B72F-F9411104C8E6}" type="slidenum">
              <a:rPr lang="en-IN" smtClean="0"/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11" name="Text Box 10"/>
          <p:cNvSpPr txBox="1"/>
          <p:nvPr/>
        </p:nvSpPr>
        <p:spPr>
          <a:xfrm>
            <a:off x="2603500" y="2435225"/>
            <a:ext cx="8107680" cy="3197860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Traffic Control Management System 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Create a digital application to simulate and manage urban traffic</a:t>
            </a:r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including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signal timing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congestion alerts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and route optimization.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83" y="215537"/>
            <a:ext cx="3506323" cy="1177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5465" y="755015"/>
            <a:ext cx="9117330" cy="53213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r logo top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55" y="296545"/>
            <a:ext cx="1473200" cy="8724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76285" y="280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6828790" y="4899660"/>
            <a:ext cx="762000" cy="205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Yes</a:t>
            </a:r>
            <a:endParaRPr lang="en-US" sz="1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D5D5F1-EDEB-45CF-B72F-F9411104C8E6}" type="slidenum">
              <a:rPr lang="en-IN" smtClean="0"/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15" name="Rectangle 7"/>
          <p:cNvSpPr/>
          <p:nvPr/>
        </p:nvSpPr>
        <p:spPr>
          <a:xfrm>
            <a:off x="2089785" y="2137410"/>
            <a:ext cx="1603375" cy="4311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 Application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99710" y="2632710"/>
            <a:ext cx="45339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Elbow Connector 15"/>
          <p:cNvCxnSpPr/>
          <p:nvPr/>
        </p:nvCxnSpPr>
        <p:spPr>
          <a:xfrm flipV="1">
            <a:off x="6117590" y="1994535"/>
            <a:ext cx="746125" cy="347345"/>
          </a:xfrm>
          <a:prstGeom prst="bentConnector3">
            <a:avLst>
              <a:gd name="adj1" fmla="val 500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347335" y="5025390"/>
            <a:ext cx="1365250" cy="4197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  <a:endParaRPr lang="en-US" alt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0"/>
          <p:cNvSpPr/>
          <p:nvPr/>
        </p:nvSpPr>
        <p:spPr>
          <a:xfrm>
            <a:off x="4497070" y="2119630"/>
            <a:ext cx="1603375" cy="4311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Page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1"/>
          <p:cNvSpPr/>
          <p:nvPr/>
        </p:nvSpPr>
        <p:spPr>
          <a:xfrm>
            <a:off x="4558030" y="3065780"/>
            <a:ext cx="1603375" cy="4311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448550" y="2621915"/>
            <a:ext cx="1789430" cy="13385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Operation:   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Simulation Engine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.Reports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3.logout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4.</a:t>
            </a:r>
            <a:r>
              <a:rPr lang="en-IN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endParaRPr lang="en-IN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 rot="18720000">
            <a:off x="7811770" y="4748530"/>
            <a:ext cx="887095" cy="90614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Straight Arrow Connector 56"/>
          <p:cNvCxnSpPr/>
          <p:nvPr/>
        </p:nvCxnSpPr>
        <p:spPr>
          <a:xfrm flipV="1">
            <a:off x="3653155" y="2295525"/>
            <a:ext cx="803910" cy="17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5237480" y="2566035"/>
            <a:ext cx="635" cy="501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794250" y="1806575"/>
            <a:ext cx="100457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Login?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5"/>
          <p:cNvSpPr/>
          <p:nvPr/>
        </p:nvSpPr>
        <p:spPr>
          <a:xfrm>
            <a:off x="6877050" y="1819910"/>
            <a:ext cx="1082675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Retry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087110" y="2034540"/>
            <a:ext cx="45339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/>
          <p:cNvCxnSpPr>
            <a:stCxn id="18" idx="3"/>
            <a:endCxn id="25" idx="1"/>
          </p:cNvCxnSpPr>
          <p:nvPr/>
        </p:nvCxnSpPr>
        <p:spPr>
          <a:xfrm>
            <a:off x="6161405" y="3281680"/>
            <a:ext cx="1287145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8228965" y="3964305"/>
            <a:ext cx="6350" cy="608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7270115" y="5020945"/>
            <a:ext cx="2463165" cy="3987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congestion alerts</a:t>
            </a:r>
            <a:endParaRPr lang="en-US" altLang="en-US" sz="1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1" name="Straight Arrow Connector 20"/>
          <p:cNvCxnSpPr>
            <a:endCxn id="35" idx="3"/>
          </p:cNvCxnSpPr>
          <p:nvPr/>
        </p:nvCxnSpPr>
        <p:spPr>
          <a:xfrm flipH="1">
            <a:off x="6712585" y="5220335"/>
            <a:ext cx="913130" cy="15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976870" y="6123305"/>
            <a:ext cx="626745" cy="19494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>
            <a:endCxn id="33" idx="0"/>
          </p:cNvCxnSpPr>
          <p:nvPr/>
        </p:nvCxnSpPr>
        <p:spPr>
          <a:xfrm>
            <a:off x="8282305" y="5812155"/>
            <a:ext cx="8255" cy="311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5" idx="2"/>
            <a:endCxn id="33" idx="1"/>
          </p:cNvCxnSpPr>
          <p:nvPr/>
        </p:nvCxnSpPr>
        <p:spPr>
          <a:xfrm rot="5400000" flipV="1">
            <a:off x="6615430" y="4859655"/>
            <a:ext cx="775970" cy="19469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83" y="215537"/>
            <a:ext cx="3506323" cy="1177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89150" y="1285240"/>
            <a:ext cx="9117330" cy="62611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– DESCRIPTION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r logo top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55" y="296545"/>
            <a:ext cx="1473200" cy="8724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76285" y="280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569460" y="3422650"/>
            <a:ext cx="3402965" cy="363220"/>
          </a:xfrm>
          <a:prstGeom prst="rect">
            <a:avLst/>
          </a:prstGeom>
        </p:spPr>
        <p:txBody>
          <a:bodyPr>
            <a:noAutofit/>
          </a:bodyPr>
          <a:p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93675" y="454342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en-IN"/>
              <a:t>7</a:t>
            </a:r>
            <a:endParaRPr lang="en-US" alt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END SEMESTER PROJECT REVIEW</a:t>
            </a:r>
            <a:endParaRPr lang="en-IN"/>
          </a:p>
        </p:txBody>
      </p:sp>
      <p:graphicFrame>
        <p:nvGraphicFramePr>
          <p:cNvPr id="12" name="Table 11"/>
          <p:cNvGraphicFramePr/>
          <p:nvPr>
            <p:custDataLst>
              <p:tags r:id="rId3"/>
            </p:custDataLst>
          </p:nvPr>
        </p:nvGraphicFramePr>
        <p:xfrm>
          <a:off x="2771775" y="2350135"/>
          <a:ext cx="7261860" cy="3349625"/>
        </p:xfrm>
        <a:graphic>
          <a:graphicData uri="http://schemas.openxmlformats.org/drawingml/2006/table">
            <a:tbl>
              <a:tblPr/>
              <a:tblGrid>
                <a:gridCol w="831215"/>
                <a:gridCol w="5580380"/>
                <a:gridCol w="850265"/>
              </a:tblGrid>
              <a:tr h="942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433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948690" y="2141855"/>
            <a:ext cx="10868660" cy="3867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Validates the username and password to ensure only authorized users can access the system.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Provides easy navigation to different features like simulation, reports, and settings.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Simulation Engine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Controls traffic light timings, detects congestion, and simulates real-time traffic flow.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Report Module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Generates simple summaries of simulation results, including congestion alerts and timing details, and saves them locally.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83" y="215537"/>
            <a:ext cx="3506323" cy="1177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89150" y="1285240"/>
            <a:ext cx="9117330" cy="62611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MODULES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r logo top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55" y="296545"/>
            <a:ext cx="1473200" cy="8724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76285" y="280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569460" y="3422650"/>
            <a:ext cx="3402965" cy="363220"/>
          </a:xfrm>
          <a:prstGeom prst="rect">
            <a:avLst/>
          </a:prstGeom>
        </p:spPr>
        <p:txBody>
          <a:bodyPr>
            <a:noAutofit/>
          </a:bodyPr>
          <a:p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93675" y="454342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en-IN"/>
              <a:t>8</a:t>
            </a:r>
            <a:endParaRPr lang="en-US" alt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END SEMESTER PROJECT REVIEW</a:t>
            </a:r>
            <a:endParaRPr lang="en-IN"/>
          </a:p>
        </p:txBody>
      </p:sp>
      <p:graphicFrame>
        <p:nvGraphicFramePr>
          <p:cNvPr id="12" name="Table 11"/>
          <p:cNvGraphicFramePr/>
          <p:nvPr>
            <p:custDataLst>
              <p:tags r:id="rId3"/>
            </p:custDataLst>
          </p:nvPr>
        </p:nvGraphicFramePr>
        <p:xfrm>
          <a:off x="2771775" y="2350135"/>
          <a:ext cx="7261860" cy="3349625"/>
        </p:xfrm>
        <a:graphic>
          <a:graphicData uri="http://schemas.openxmlformats.org/drawingml/2006/table">
            <a:tbl>
              <a:tblPr/>
              <a:tblGrid>
                <a:gridCol w="831215"/>
                <a:gridCol w="5580380"/>
                <a:gridCol w="850265"/>
              </a:tblGrid>
              <a:tr h="942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433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1624965" y="2295525"/>
            <a:ext cx="10868660" cy="3867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2" name="Google Shape;102;p2"/>
          <p:cNvGraphicFramePr/>
          <p:nvPr/>
        </p:nvGraphicFramePr>
        <p:xfrm>
          <a:off x="1713353" y="2185255"/>
          <a:ext cx="9614535" cy="2897505"/>
        </p:xfrm>
        <a:graphic>
          <a:graphicData uri="http://schemas.openxmlformats.org/drawingml/2006/table">
            <a:tbl>
              <a:tblPr firstRow="1" bandRow="1">
                <a:noFill/>
                <a:tableStyleId>{591F37C6-D36B-4485-AD76-26D7A969E562}</a:tableStyleId>
              </a:tblPr>
              <a:tblGrid>
                <a:gridCol w="3272155"/>
                <a:gridCol w="6342180"/>
              </a:tblGrid>
              <a:tr h="45775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      </a:t>
                      </a:r>
                      <a:r>
                        <a:rPr lang="en-IN" sz="1600" spc="12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Module</a:t>
                      </a:r>
                      <a:endParaRPr sz="1600" b="1"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          </a:t>
                      </a:r>
                      <a:r>
                        <a:rPr lang="en-US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DESCRIPTION</a:t>
                      </a:r>
                      <a:endParaRPr lang="en-US" sz="1600" b="1"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  <a:tr h="3736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spc="12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Login Module</a:t>
                      </a:r>
                      <a:endParaRPr lang="en-IN" sz="1600" b="0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spc="12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Handles authentication using username and password.</a:t>
                      </a:r>
                      <a:endParaRPr sz="1600" b="0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77800" marR="177800" marT="107950" marB="107950" anchor="ctr" anchorCtr="0"/>
                </a:tc>
              </a:tr>
              <a:tr h="37085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spc="12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Dashboard Module</a:t>
                      </a:r>
                      <a:endParaRPr sz="1600" b="0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spc="12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Provides user navigation and session info.</a:t>
                      </a:r>
                      <a:endParaRPr sz="1600" b="0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77800" marR="177800" marT="107950" marB="107950" anchor="ctr" anchorCtr="0"/>
                </a:tc>
              </a:tr>
              <a:tr h="4059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spc="12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Simulation Module</a:t>
                      </a:r>
                      <a:endParaRPr sz="1600" b="0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spc="12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Controls light changes, simulates traffic, and detects congestion.</a:t>
                      </a:r>
                      <a:endParaRPr sz="1600" b="0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77800" marR="177800" marT="107950" marB="107950" anchor="ctr" anchorCtr="0"/>
                </a:tc>
              </a:tr>
              <a:tr h="40312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spc="12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Route Optimization</a:t>
                      </a:r>
                      <a:endParaRPr sz="1600" b="0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spc="12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Suggests alternate routes to reduce congestion.</a:t>
                      </a:r>
                      <a:endParaRPr sz="1600" b="0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77800" marR="177800" marT="107950" marB="107950" anchor="ctr" anchorCtr="0"/>
                </a:tc>
              </a:tr>
              <a:tr h="37085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spc="12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Report Module</a:t>
                      </a:r>
                      <a:endParaRPr sz="1600" b="0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spc="12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Generates and saves reports summarizing simulation data.</a:t>
                      </a:r>
                      <a:endParaRPr sz="1600" b="0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77800" marR="177800" marT="107950" marB="10795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83" y="215537"/>
            <a:ext cx="3506323" cy="1177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0565" y="690245"/>
            <a:ext cx="9117330" cy="62611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r logo top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55" y="296545"/>
            <a:ext cx="1473200" cy="8724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76285" y="280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569460" y="3422650"/>
            <a:ext cx="3402965" cy="363220"/>
          </a:xfrm>
          <a:prstGeom prst="rect">
            <a:avLst/>
          </a:prstGeom>
        </p:spPr>
        <p:txBody>
          <a:bodyPr>
            <a:noAutofit/>
          </a:bodyPr>
          <a:p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93675" y="454342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en-IN"/>
              <a:t>9</a:t>
            </a:r>
            <a:endParaRPr lang="en-US" alt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END SEMESTER PROJECT REVIEW</a:t>
            </a:r>
            <a:endParaRPr lang="en-IN"/>
          </a:p>
        </p:txBody>
      </p:sp>
      <p:graphicFrame>
        <p:nvGraphicFramePr>
          <p:cNvPr id="12" name="Table 11"/>
          <p:cNvGraphicFramePr/>
          <p:nvPr>
            <p:custDataLst>
              <p:tags r:id="rId3"/>
            </p:custDataLst>
          </p:nvPr>
        </p:nvGraphicFramePr>
        <p:xfrm>
          <a:off x="2771775" y="2350135"/>
          <a:ext cx="7261860" cy="3349625"/>
        </p:xfrm>
        <a:graphic>
          <a:graphicData uri="http://schemas.openxmlformats.org/drawingml/2006/table">
            <a:tbl>
              <a:tblPr/>
              <a:tblGrid>
                <a:gridCol w="831215"/>
                <a:gridCol w="5580380"/>
                <a:gridCol w="850265"/>
              </a:tblGrid>
              <a:tr h="942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433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1856740" y="1776095"/>
            <a:ext cx="10868660" cy="4246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Login Module: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Manages user authentication using a username and password.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access to the system for authorized users only.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 Module: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Acts as the main control center of the application.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Allows navigation to Simulation, Reports, and Logout options.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Displays user and session information.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Simulation Module: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Simulates real-time traffic signal operations (Red, Yellow, Green).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Detects and displays traffic congestion levels.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Tracks runtime statistics like number of simulations and alerts.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83" y="215537"/>
            <a:ext cx="3506323" cy="1177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0565" y="690245"/>
            <a:ext cx="9117330" cy="62611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r logo top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55" y="296545"/>
            <a:ext cx="1473200" cy="8724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76285" y="280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569460" y="3422650"/>
            <a:ext cx="3402965" cy="363220"/>
          </a:xfrm>
          <a:prstGeom prst="rect">
            <a:avLst/>
          </a:prstGeom>
        </p:spPr>
        <p:txBody>
          <a:bodyPr>
            <a:noAutofit/>
          </a:bodyPr>
          <a:p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93675" y="454342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en-IN"/>
              <a:t>10</a:t>
            </a:r>
            <a:endParaRPr lang="en-US" alt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END SEMESTER PROJECT REVIEW</a:t>
            </a:r>
            <a:endParaRPr lang="en-IN"/>
          </a:p>
        </p:txBody>
      </p:sp>
      <p:graphicFrame>
        <p:nvGraphicFramePr>
          <p:cNvPr id="12" name="Table 11"/>
          <p:cNvGraphicFramePr/>
          <p:nvPr>
            <p:custDataLst>
              <p:tags r:id="rId3"/>
            </p:custDataLst>
          </p:nvPr>
        </p:nvGraphicFramePr>
        <p:xfrm>
          <a:off x="2771775" y="2350135"/>
          <a:ext cx="7261860" cy="3349625"/>
        </p:xfrm>
        <a:graphic>
          <a:graphicData uri="http://schemas.openxmlformats.org/drawingml/2006/table">
            <a:tbl>
              <a:tblPr/>
              <a:tblGrid>
                <a:gridCol w="831215"/>
                <a:gridCol w="5580380"/>
                <a:gridCol w="850265"/>
              </a:tblGrid>
              <a:tr h="942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433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1990725" y="1783080"/>
            <a:ext cx="10868660" cy="4246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Route Optimization Module: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Suggests alternate routes based on current traffic conditions.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Helps reduce congestion and improve traffic flow.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Report Module: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Generates and displays summarized reports of simulations.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Allows saving reports for future reference.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Stores runtime data such as simulation count, congestion alerts, and total time.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Acts as a bridge between different modules for data sharing.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83" y="215537"/>
            <a:ext cx="3506323" cy="1177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4025" y="719455"/>
            <a:ext cx="3190240" cy="626110"/>
          </a:xfrm>
        </p:spPr>
        <p:txBody>
          <a:bodyPr>
            <a:normAutofit/>
          </a:bodyPr>
          <a:lstStyle/>
          <a:p>
            <a:r>
              <a:rPr lang="en-US" alt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lang="en-US" alt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r logo top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55" y="296545"/>
            <a:ext cx="1473200" cy="8724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76285" y="280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569460" y="3422650"/>
            <a:ext cx="3402965" cy="363220"/>
          </a:xfrm>
          <a:prstGeom prst="rect">
            <a:avLst/>
          </a:prstGeom>
        </p:spPr>
        <p:txBody>
          <a:bodyPr>
            <a:noAutofit/>
          </a:bodyPr>
          <a:p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93675" y="454342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en-IN"/>
              <a:t>11</a:t>
            </a:r>
            <a:endParaRPr lang="en-US" alt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4051935" y="6356350"/>
            <a:ext cx="4114800" cy="365125"/>
          </a:xfrm>
        </p:spPr>
        <p:txBody>
          <a:bodyPr/>
          <a:p>
            <a:r>
              <a:rPr lang="en-IN"/>
              <a:t>END SEMESTER PROJECT REVIEW</a:t>
            </a:r>
            <a:endParaRPr lang="en-IN"/>
          </a:p>
        </p:txBody>
      </p:sp>
      <p:graphicFrame>
        <p:nvGraphicFramePr>
          <p:cNvPr id="12" name="Table 11"/>
          <p:cNvGraphicFramePr/>
          <p:nvPr>
            <p:custDataLst>
              <p:tags r:id="rId3"/>
            </p:custDataLst>
          </p:nvPr>
        </p:nvGraphicFramePr>
        <p:xfrm>
          <a:off x="2771775" y="2350135"/>
          <a:ext cx="7261860" cy="3349625"/>
        </p:xfrm>
        <a:graphic>
          <a:graphicData uri="http://schemas.openxmlformats.org/drawingml/2006/table">
            <a:tbl>
              <a:tblPr/>
              <a:tblGrid>
                <a:gridCol w="831215"/>
                <a:gridCol w="5580380"/>
                <a:gridCol w="850265"/>
              </a:tblGrid>
              <a:tr h="942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433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395720" y="1677670"/>
            <a:ext cx="4015740" cy="45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DASHBOARD: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1264900" y="65595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10996295" y="6579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85" y="2256155"/>
            <a:ext cx="5128260" cy="297307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3615" y="2214880"/>
            <a:ext cx="5440045" cy="3307080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965835" y="18262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LOGIN PGAE: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83" y="215537"/>
            <a:ext cx="3506323" cy="1177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4025" y="719455"/>
            <a:ext cx="3190240" cy="626110"/>
          </a:xfrm>
        </p:spPr>
        <p:txBody>
          <a:bodyPr>
            <a:normAutofit/>
          </a:bodyPr>
          <a:lstStyle/>
          <a:p>
            <a:r>
              <a:rPr lang="en-US" alt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lang="en-US" alt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r logo top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55" y="296545"/>
            <a:ext cx="1473200" cy="8724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76285" y="280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569460" y="3422650"/>
            <a:ext cx="3402965" cy="363220"/>
          </a:xfrm>
          <a:prstGeom prst="rect">
            <a:avLst/>
          </a:prstGeom>
        </p:spPr>
        <p:txBody>
          <a:bodyPr>
            <a:noAutofit/>
          </a:bodyPr>
          <a:p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93675" y="454342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en-IN"/>
              <a:t>12</a:t>
            </a:r>
            <a:endParaRPr lang="en-US" alt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4051935" y="6356350"/>
            <a:ext cx="4114800" cy="365125"/>
          </a:xfrm>
        </p:spPr>
        <p:txBody>
          <a:bodyPr/>
          <a:p>
            <a:r>
              <a:rPr lang="en-IN"/>
              <a:t>END SEMESTER PROJECT REVIEW</a:t>
            </a:r>
            <a:endParaRPr lang="en-IN"/>
          </a:p>
        </p:txBody>
      </p:sp>
      <p:graphicFrame>
        <p:nvGraphicFramePr>
          <p:cNvPr id="12" name="Table 11"/>
          <p:cNvGraphicFramePr/>
          <p:nvPr>
            <p:custDataLst>
              <p:tags r:id="rId3"/>
            </p:custDataLst>
          </p:nvPr>
        </p:nvGraphicFramePr>
        <p:xfrm>
          <a:off x="2771775" y="2350135"/>
          <a:ext cx="7261860" cy="3349625"/>
        </p:xfrm>
        <a:graphic>
          <a:graphicData uri="http://schemas.openxmlformats.org/drawingml/2006/table">
            <a:tbl>
              <a:tblPr/>
              <a:tblGrid>
                <a:gridCol w="831215"/>
                <a:gridCol w="5580380"/>
                <a:gridCol w="850265"/>
              </a:tblGrid>
              <a:tr h="942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433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3522345" y="793750"/>
            <a:ext cx="4015740" cy="1748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1264900" y="65595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10996295" y="6579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50" y="1939925"/>
            <a:ext cx="5215890" cy="387604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240" y="1978660"/>
            <a:ext cx="5514975" cy="3914775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753110" y="1497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SIMULATION:</a:t>
            </a:r>
            <a:endParaRPr lang="en-US" b="1"/>
          </a:p>
        </p:txBody>
      </p:sp>
      <p:sp>
        <p:nvSpPr>
          <p:cNvPr id="20" name="Text Box 19"/>
          <p:cNvSpPr txBox="1"/>
          <p:nvPr/>
        </p:nvSpPr>
        <p:spPr>
          <a:xfrm>
            <a:off x="7059930" y="153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REPORTS PAGE: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83" y="215537"/>
            <a:ext cx="3506323" cy="1177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5130" y="998855"/>
            <a:ext cx="9117330" cy="62611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r logo top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55" y="296545"/>
            <a:ext cx="1473200" cy="8724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76285" y="280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569460" y="3422650"/>
            <a:ext cx="3402965" cy="363220"/>
          </a:xfrm>
          <a:prstGeom prst="rect">
            <a:avLst/>
          </a:prstGeom>
        </p:spPr>
        <p:txBody>
          <a:bodyPr>
            <a:noAutofit/>
          </a:bodyPr>
          <a:p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93675" y="454342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en-IN"/>
              <a:t>13</a:t>
            </a:r>
            <a:endParaRPr lang="en-US" alt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END SEMESTER PROJECT REVIEW</a:t>
            </a:r>
            <a:endParaRPr lang="en-IN"/>
          </a:p>
        </p:txBody>
      </p:sp>
      <p:graphicFrame>
        <p:nvGraphicFramePr>
          <p:cNvPr id="12" name="Table 11"/>
          <p:cNvGraphicFramePr/>
          <p:nvPr>
            <p:custDataLst>
              <p:tags r:id="rId3"/>
            </p:custDataLst>
          </p:nvPr>
        </p:nvGraphicFramePr>
        <p:xfrm>
          <a:off x="2771775" y="2350135"/>
          <a:ext cx="7261860" cy="3349625"/>
        </p:xfrm>
        <a:graphic>
          <a:graphicData uri="http://schemas.openxmlformats.org/drawingml/2006/table">
            <a:tbl>
              <a:tblPr/>
              <a:tblGrid>
                <a:gridCol w="831215"/>
                <a:gridCol w="5580380"/>
                <a:gridCol w="850265"/>
              </a:tblGrid>
              <a:tr h="942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433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366395" y="2081530"/>
            <a:ext cx="11475085" cy="386778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 marL="1257300" lvl="2" indent="-342900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shows how software can help manage and control urban traffic.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uses Java AWT and Swing to simulate traffic signals and display real-time changes.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simulation engine helps understand how congestion forms and how signal timing affects traffic flow.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and dashboard improve system organization and controlled access.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report module helps store and review traffic performance data.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the model is basic, it demonstrates the concept of smart traffic management.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can be expanded with AI, sensors, and real-time data for a smarter city system.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83" y="215537"/>
            <a:ext cx="3506323" cy="1177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89150" y="1285240"/>
            <a:ext cx="9117330" cy="62611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r logo top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55" y="296545"/>
            <a:ext cx="1473200" cy="8724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76285" y="280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569460" y="3422650"/>
            <a:ext cx="3402965" cy="363220"/>
          </a:xfrm>
          <a:prstGeom prst="rect">
            <a:avLst/>
          </a:prstGeom>
        </p:spPr>
        <p:txBody>
          <a:bodyPr>
            <a:noAutofit/>
          </a:bodyPr>
          <a:p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93675" y="454342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en-IN"/>
              <a:t>14</a:t>
            </a:r>
            <a:endParaRPr lang="en-US" alt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END SEMESTER PROJECT REVIEW</a:t>
            </a:r>
            <a:endParaRPr lang="en-IN"/>
          </a:p>
        </p:txBody>
      </p:sp>
      <p:graphicFrame>
        <p:nvGraphicFramePr>
          <p:cNvPr id="12" name="Table 11"/>
          <p:cNvGraphicFramePr/>
          <p:nvPr>
            <p:custDataLst>
              <p:tags r:id="rId3"/>
            </p:custDataLst>
          </p:nvPr>
        </p:nvGraphicFramePr>
        <p:xfrm>
          <a:off x="2771775" y="2350135"/>
          <a:ext cx="7261860" cy="3349625"/>
        </p:xfrm>
        <a:graphic>
          <a:graphicData uri="http://schemas.openxmlformats.org/drawingml/2006/table">
            <a:tbl>
              <a:tblPr/>
              <a:tblGrid>
                <a:gridCol w="831215"/>
                <a:gridCol w="5580380"/>
                <a:gridCol w="850265"/>
              </a:tblGrid>
              <a:tr h="942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4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433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b="1" spc="12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477520" y="1555750"/>
            <a:ext cx="11475085" cy="386778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 marL="1257300" lvl="2" indent="-342900" fontAlgn="ctr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Traffic Control Management System effectively demonstrates how software-based control and simulation can enhance real-time traffic monitoring and decision-making.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could include integrating live sensor data, map APIs, and machine learning models to predict congestion trends.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fontAlgn="ctr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illustrates a foundation for building Smart Traffic Management Systems in urban cities.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83" y="215537"/>
            <a:ext cx="3506323" cy="1177834"/>
          </a:xfrm>
          <a:prstGeom prst="rect">
            <a:avLst/>
          </a:prstGeom>
        </p:spPr>
      </p:pic>
      <p:pic>
        <p:nvPicPr>
          <p:cNvPr id="3" name="Picture 2" descr="kr logo top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55" y="296545"/>
            <a:ext cx="1473200" cy="8724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76285" y="280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569460" y="3422650"/>
            <a:ext cx="3402965" cy="363220"/>
          </a:xfrm>
          <a:prstGeom prst="rect">
            <a:avLst/>
          </a:prstGeom>
        </p:spPr>
        <p:txBody>
          <a:bodyPr>
            <a:noAutofit/>
          </a:bodyPr>
          <a:p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674745" y="358965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smtClean="0"/>
              <a:t>13-12-2025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en-IN"/>
              <a:t>15</a:t>
            </a:r>
            <a:endParaRPr lang="en-US" alt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END SEMESTER PROJECT REVIEW</a:t>
            </a: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41040" y="2405380"/>
            <a:ext cx="5978525" cy="1574800"/>
          </a:xfrm>
        </p:spPr>
        <p:txBody>
          <a:bodyPr>
            <a:noAutofit/>
          </a:bodyPr>
          <a:lstStyle/>
          <a:p>
            <a:r>
              <a:rPr lang="en-US" altLang="en-US" sz="28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altLang="en-US" sz="28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0*40"/>
  <p:tag name="TABLE_ENDDRAG_RECT" val="27*122*60*40"/>
  <p:tag name="TABLE_AUTOADJUST_FLAG" val="1"/>
</p:tagLst>
</file>

<file path=ppt/tags/tag2.xml><?xml version="1.0" encoding="utf-8"?>
<p:tagLst xmlns:p="http://schemas.openxmlformats.org/presentationml/2006/main">
  <p:tag name="TABLE_ENDDRAG_ORIGIN_RECT" val="571*286"/>
  <p:tag name="TABLE_ENDDRAG_RECT" val="210*147*571*286"/>
  <p:tag name="TABLE_AUTOADJUST_FLAG" val="1"/>
</p:tagLst>
</file>

<file path=ppt/tags/tag3.xml><?xml version="1.0" encoding="utf-8"?>
<p:tagLst xmlns:p="http://schemas.openxmlformats.org/presentationml/2006/main">
  <p:tag name="TABLE_ENDDRAG_ORIGIN_RECT" val="571*286"/>
  <p:tag name="TABLE_ENDDRAG_RECT" val="210*147*571*286"/>
  <p:tag name="TABLE_AUTOADJUST_FLAG" val="1"/>
</p:tagLst>
</file>

<file path=ppt/tags/tag4.xml><?xml version="1.0" encoding="utf-8"?>
<p:tagLst xmlns:p="http://schemas.openxmlformats.org/presentationml/2006/main">
  <p:tag name="TABLE_ENDDRAG_ORIGIN_RECT" val="571*286"/>
  <p:tag name="TABLE_ENDDRAG_RECT" val="210*147*571*286"/>
  <p:tag name="TABLE_AUTOADJUST_FLAG" val="1"/>
</p:tagLst>
</file>

<file path=ppt/tags/tag5.xml><?xml version="1.0" encoding="utf-8"?>
<p:tagLst xmlns:p="http://schemas.openxmlformats.org/presentationml/2006/main">
  <p:tag name="TABLE_ENDDRAG_ORIGIN_RECT" val="571*286"/>
  <p:tag name="TABLE_ENDDRAG_RECT" val="210*147*571*286"/>
  <p:tag name="TABLE_AUTOADJUST_FLAG" val="1"/>
</p:tagLst>
</file>

<file path=ppt/tags/tag6.xml><?xml version="1.0" encoding="utf-8"?>
<p:tagLst xmlns:p="http://schemas.openxmlformats.org/presentationml/2006/main">
  <p:tag name="TABLE_ENDDRAG_ORIGIN_RECT" val="571*286"/>
  <p:tag name="TABLE_ENDDRAG_RECT" val="210*147*571*286"/>
  <p:tag name="TABLE_AUTOADJUST_FLAG" val="1"/>
</p:tagLst>
</file>

<file path=ppt/tags/tag7.xml><?xml version="1.0" encoding="utf-8"?>
<p:tagLst xmlns:p="http://schemas.openxmlformats.org/presentationml/2006/main">
  <p:tag name="TABLE_ENDDRAG_ORIGIN_RECT" val="571*286"/>
  <p:tag name="TABLE_ENDDRAG_RECT" val="210*147*571*286"/>
  <p:tag name="TABLE_AUTOADJUST_FLAG" val="1"/>
</p:tagLst>
</file>

<file path=ppt/tags/tag8.xml><?xml version="1.0" encoding="utf-8"?>
<p:tagLst xmlns:p="http://schemas.openxmlformats.org/presentationml/2006/main">
  <p:tag name="TABLE_ENDDRAG_ORIGIN_RECT" val="571*286"/>
  <p:tag name="TABLE_ENDDRAG_RECT" val="210*147*571*286"/>
  <p:tag name="TABLE_AUTOADJUST_FLAG" val="1"/>
</p:tagLst>
</file>

<file path=ppt/tags/tag9.xml><?xml version="1.0" encoding="utf-8"?>
<p:tagLst xmlns:p="http://schemas.openxmlformats.org/presentationml/2006/main">
  <p:tag name="TABLE_ENDDRAG_ORIGIN_RECT" val="571*286"/>
  <p:tag name="TABLE_ENDDRAG_RECT" val="210*147*571*286"/>
  <p:tag name="TABLE_AUTOADJUST_FLAG" val="1"/>
</p:tagLst>
</file>

<file path=ppt/tags/tag10.xml><?xml version="1.0" encoding="utf-8"?>
<p:tagLst xmlns:p="http://schemas.openxmlformats.org/presentationml/2006/main">
  <p:tag name="TABLE_ENDDRAG_ORIGIN_RECT" val="571*286"/>
  <p:tag name="TABLE_ENDDRAG_RECT" val="210*147*571*286"/>
  <p:tag name="TABLE_AUTOADJUST_FLAG" val="1"/>
</p:tagLst>
</file>

<file path=ppt/tags/tag11.xml><?xml version="1.0" encoding="utf-8"?>
<p:tagLst xmlns:p="http://schemas.openxmlformats.org/presentationml/2006/main">
  <p:tag name="TABLE_ENDDRAG_ORIGIN_RECT" val="571*286"/>
  <p:tag name="TABLE_ENDDRAG_RECT" val="210*147*571*286"/>
  <p:tag name="TABLE_AUTOADJUST_FLAG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5884</Words>
  <Application>WPS Presentation</Application>
  <PresentationFormat>Widescreen</PresentationFormat>
  <Paragraphs>367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Microsoft YaHei</vt:lpstr>
      <vt:lpstr>Times New Roman</vt:lpstr>
      <vt:lpstr>Calibri</vt:lpstr>
      <vt:lpstr>Arial Unicode MS</vt:lpstr>
      <vt:lpstr>Calibri Light</vt:lpstr>
      <vt:lpstr>Office Theme</vt:lpstr>
      <vt:lpstr>2_Office Theme</vt:lpstr>
      <vt:lpstr>END SEMESTER PROJECT REVIEW</vt:lpstr>
      <vt:lpstr>TABLE OF CONTENT</vt:lpstr>
      <vt:lpstr> ABSTRACT</vt:lpstr>
      <vt:lpstr> INTRODUCTION</vt:lpstr>
      <vt:lpstr>Problem Statement</vt:lpstr>
      <vt:lpstr>System Architecture</vt:lpstr>
      <vt:lpstr>SYSTEM ARCHITECTURE – DESCRIPTION</vt:lpstr>
      <vt:lpstr>LIST OF MODULES</vt:lpstr>
      <vt:lpstr>Module Description</vt:lpstr>
      <vt:lpstr>Module Description</vt:lpstr>
      <vt:lpstr>RESULT:</vt:lpstr>
      <vt:lpstr>RESULT:</vt:lpstr>
      <vt:lpstr>DISCUSSION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For E-commerce</dc:title>
  <dc:creator>CT20192749051 Nishithraa N</dc:creator>
  <cp:lastModifiedBy>WPS_1747324745</cp:lastModifiedBy>
  <cp:revision>35</cp:revision>
  <dcterms:created xsi:type="dcterms:W3CDTF">2025-03-04T10:52:00Z</dcterms:created>
  <dcterms:modified xsi:type="dcterms:W3CDTF">2025-12-12T15:38:24Z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C270CFB2050C4FCE802A6BDD5E4864CF_12</vt:lpwstr>
  </property>
  <property fmtid="{D5CDD505-2E9C-101B-9397-08002B2CF9AE}" pid="3" name="KSOProductBuildVer">
    <vt:lpwstr>1033-12.2.0.23155</vt:lpwstr>
  </property>
</Properties>
</file>